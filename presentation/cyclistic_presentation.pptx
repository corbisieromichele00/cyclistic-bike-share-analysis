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aleway"/>
      <p:regular r:id="rId12"/>
      <p:bold r:id="rId13"/>
      <p:italic r:id="rId14"/>
      <p:boldItalic r:id="rId15"/>
    </p:embeddedFont>
    <p:embeddedFont>
      <p:font typeface="La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bold.fntdata"/><Relationship Id="rId12" Type="http://schemas.openxmlformats.org/officeDocument/2006/relationships/font" Target="fonts/Raleway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Italic.fntdata"/><Relationship Id="rId14" Type="http://schemas.openxmlformats.org/officeDocument/2006/relationships/font" Target="fonts/Raleway-italic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e040fa071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3ce040fa071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e040fa071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ce040fa071_2_8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e040fa071_2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ce040fa071_2_8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e040fa071_2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ce040fa071_2_8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ce040fa071_2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ce040fa071_2_9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ce040fa071_2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ce040fa071_2_9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-150" y="1322450"/>
            <a:ext cx="91440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7142"/>
              <a:buFont typeface="Calibri"/>
              <a:buNone/>
            </a:pPr>
            <a:r>
              <a:rPr lang="it"/>
              <a:t>How casual rides and annual members use Cyclistic bike differently  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it"/>
              <a:t>File created: 09/03/2026 12:21:51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ia 11" id="92" name="Google Shape;92;p14"/>
          <p:cNvPicPr preferRelativeResize="0"/>
          <p:nvPr/>
        </p:nvPicPr>
        <p:blipFill rotWithShape="1">
          <a:blip r:embed="rId3">
            <a:alphaModFix/>
          </a:blip>
          <a:srcRect b="45573" l="22323" r="21576" t="34641"/>
          <a:stretch/>
        </p:blipFill>
        <p:spPr>
          <a:xfrm>
            <a:off x="824350" y="1392725"/>
            <a:ext cx="7656524" cy="183842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0" y="152650"/>
            <a:ext cx="6969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How casual rides and annual members use Cyclistic bike differently </a:t>
            </a:r>
            <a:r>
              <a:rPr b="1" lang="it" sz="1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b="1" sz="11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730425" y="859589"/>
            <a:ext cx="69693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Business question</a:t>
            </a:r>
            <a:endParaRPr b="1" sz="16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/>
        </p:nvSpPr>
        <p:spPr>
          <a:xfrm>
            <a:off x="0" y="152650"/>
            <a:ext cx="6969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How casual rides and annual members use Cyclistic bike differently </a:t>
            </a:r>
            <a:r>
              <a:rPr b="1" lang="it" sz="1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b="1" sz="11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0" name="Google Shape;100;p15"/>
          <p:cNvSpPr txBox="1"/>
          <p:nvPr/>
        </p:nvSpPr>
        <p:spPr>
          <a:xfrm>
            <a:off x="722127" y="867596"/>
            <a:ext cx="3055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Casual Riders take longer trips</a:t>
            </a:r>
            <a:endParaRPr b="1" sz="15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Storia 12" id="101" name="Google Shape;101;p15"/>
          <p:cNvPicPr preferRelativeResize="0"/>
          <p:nvPr/>
        </p:nvPicPr>
        <p:blipFill rotWithShape="1">
          <a:blip r:embed="rId3">
            <a:alphaModFix/>
          </a:blip>
          <a:srcRect b="50798" l="34788" r="21905" t="27135"/>
          <a:stretch/>
        </p:blipFill>
        <p:spPr>
          <a:xfrm>
            <a:off x="2929275" y="1283225"/>
            <a:ext cx="4276876" cy="14836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toria 12"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0" r="80637" t="15619"/>
          <a:stretch/>
        </p:blipFill>
        <p:spPr>
          <a:xfrm>
            <a:off x="865366" y="1283233"/>
            <a:ext cx="1274499" cy="37812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toria 12" id="103" name="Google Shape;103;p15"/>
          <p:cNvPicPr preferRelativeResize="0"/>
          <p:nvPr/>
        </p:nvPicPr>
        <p:blipFill rotWithShape="1">
          <a:blip r:embed="rId3">
            <a:alphaModFix/>
          </a:blip>
          <a:srcRect b="76752" l="87438" r="5288" t="15619"/>
          <a:stretch/>
        </p:blipFill>
        <p:spPr>
          <a:xfrm>
            <a:off x="1590318" y="1283235"/>
            <a:ext cx="549550" cy="392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ia 13" id="108" name="Google Shape;108;p16"/>
          <p:cNvPicPr preferRelativeResize="0"/>
          <p:nvPr/>
        </p:nvPicPr>
        <p:blipFill rotWithShape="1">
          <a:blip r:embed="rId3">
            <a:alphaModFix/>
          </a:blip>
          <a:srcRect b="39103" l="69028" r="3014" t="33372"/>
          <a:stretch/>
        </p:blipFill>
        <p:spPr>
          <a:xfrm>
            <a:off x="5451975" y="1266775"/>
            <a:ext cx="3336574" cy="223637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6"/>
          <p:cNvSpPr txBox="1"/>
          <p:nvPr/>
        </p:nvSpPr>
        <p:spPr>
          <a:xfrm>
            <a:off x="733750" y="855153"/>
            <a:ext cx="3055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Casual Riders prefer weekends</a:t>
            </a:r>
            <a:endParaRPr b="1" sz="15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Storia 13" id="110" name="Google Shape;110;p16"/>
          <p:cNvPicPr preferRelativeResize="0"/>
          <p:nvPr/>
        </p:nvPicPr>
        <p:blipFill rotWithShape="1">
          <a:blip r:embed="rId3">
            <a:alphaModFix/>
          </a:blip>
          <a:srcRect b="0" l="1356" r="35297" t="14778"/>
          <a:stretch/>
        </p:blipFill>
        <p:spPr>
          <a:xfrm>
            <a:off x="831689" y="1266780"/>
            <a:ext cx="4328075" cy="38070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toria 12" id="111" name="Google Shape;111;p16"/>
          <p:cNvPicPr preferRelativeResize="0"/>
          <p:nvPr/>
        </p:nvPicPr>
        <p:blipFill rotWithShape="1">
          <a:blip r:embed="rId4">
            <a:alphaModFix/>
          </a:blip>
          <a:srcRect b="76752" l="87438" r="5288" t="15619"/>
          <a:stretch/>
        </p:blipFill>
        <p:spPr>
          <a:xfrm>
            <a:off x="1114068" y="1604985"/>
            <a:ext cx="549550" cy="3924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6"/>
          <p:cNvSpPr txBox="1"/>
          <p:nvPr/>
        </p:nvSpPr>
        <p:spPr>
          <a:xfrm>
            <a:off x="0" y="152650"/>
            <a:ext cx="6969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How casual rides and annual members use Cyclistic bike differently </a:t>
            </a:r>
            <a:r>
              <a:rPr b="1" lang="it" sz="1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b="1" sz="11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8036" y="1294000"/>
            <a:ext cx="3585825" cy="21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6342" y="1294005"/>
            <a:ext cx="4540382" cy="37798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7"/>
          <p:cNvSpPr txBox="1"/>
          <p:nvPr/>
        </p:nvSpPr>
        <p:spPr>
          <a:xfrm>
            <a:off x="733750" y="855153"/>
            <a:ext cx="3055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Seasonal Ride Patterns</a:t>
            </a:r>
            <a:endParaRPr b="1" sz="15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0" y="152650"/>
            <a:ext cx="6969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How casual rides and annual members use Cyclistic bike differently </a:t>
            </a:r>
            <a:r>
              <a:rPr b="1" lang="it" sz="1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b="1" sz="11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ia 15" id="125" name="Google Shape;125;p18"/>
          <p:cNvPicPr preferRelativeResize="0"/>
          <p:nvPr/>
        </p:nvPicPr>
        <p:blipFill rotWithShape="1">
          <a:blip r:embed="rId3">
            <a:alphaModFix/>
          </a:blip>
          <a:srcRect b="39613" l="27151" r="26327" t="33923"/>
          <a:stretch/>
        </p:blipFill>
        <p:spPr>
          <a:xfrm>
            <a:off x="785225" y="1410175"/>
            <a:ext cx="6448676" cy="2497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8"/>
          <p:cNvSpPr txBox="1"/>
          <p:nvPr/>
        </p:nvSpPr>
        <p:spPr>
          <a:xfrm>
            <a:off x="733750" y="855153"/>
            <a:ext cx="3055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Business Recommendations</a:t>
            </a:r>
            <a:endParaRPr b="1" sz="15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7" name="Google Shape;127;p18"/>
          <p:cNvSpPr txBox="1"/>
          <p:nvPr/>
        </p:nvSpPr>
        <p:spPr>
          <a:xfrm>
            <a:off x="0" y="152650"/>
            <a:ext cx="6969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How casual rides and annual members use Cyclistic bike differently </a:t>
            </a:r>
            <a:r>
              <a:rPr b="1" lang="it" sz="1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b="1" sz="11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